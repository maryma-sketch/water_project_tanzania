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8" r:id="rId8"/>
    <p:sldId id="263" r:id="rId9"/>
    <p:sldId id="269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9B80-CA0D-C61E-4150-6BE958D60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B8E0E-6D6E-47D5-C3C7-7882307A0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22C3C-30B4-36E7-CEDB-AD6C5BF6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07A7E-106C-1336-BAA8-273443C1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D76D3-4408-5B14-504D-434EC9792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2527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30B89-CB68-1465-53E5-CD99229D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59FB-42E0-DE25-04C5-61A091621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0931B-2631-F3E2-B5A3-46EB9B49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634C8-400D-E929-74EA-D8B5F898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DC3D6-5B10-906B-0154-C4527BEE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1520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2726-F825-523F-3073-ED089FC5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2442C-61AE-4FC4-5C51-6C58ED574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2C010-960A-49E2-9D4F-0C2FF569B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00ACA-9FBB-B46B-A428-81E7AB1B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C9179-3AA4-6B82-BDC6-9171C3F2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8724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117A-3EAA-4031-CF52-15BF0E04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CDFAB-56BC-A6D1-9743-C3D28187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9C2F4-6894-23CB-653B-3916CE396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B627A-8274-F1BE-2469-852EDCFD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16141-08EF-A0CB-F990-19445B6F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B4B0E-1A43-6294-461B-5F96F42C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5018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0E8A0-6344-B147-5FE7-5E0B1EDC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9197E-4C97-C6C8-39EA-1A666003E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1A78A-FC7B-1B68-87DB-E2B9C4A1E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24C98E-3590-E58A-3739-A08642791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103703-095D-75C6-F9F5-EE42442C1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F4AF1-1765-C8BC-4A0D-C322EB28D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C94E8-F8CE-FC0A-D729-45672CA1C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99A7F-C193-8FB4-68A3-C45333B9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447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1F13-DACB-47AF-3451-FF127EDF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760EB-0A5C-B79F-6EEE-315A75B67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8E9CEB-96F9-DBDE-1EA4-E1B607C71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139E56-B64F-E034-478E-4B609DF5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05144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BD374-28B2-5850-72B9-DA6523C38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35085D-0DD9-E2C5-D305-A3E4C2A4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F3E0D-0E69-A87A-7525-E3C8C784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918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F5DF-C2E1-1A4E-575C-564ED6CC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94333-97FE-5A90-4E39-FD41D16FC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70FAF-3215-1862-1B99-EC7E97E9B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4C9EC-E700-CFF9-4BAD-0FAB4A66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5F585-33A8-4D45-61C6-D0C8A095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D5579-EB6D-6AEB-A5FC-C911B34F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297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1E61F-4236-F732-4B2F-FD60F83CD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971EF-E602-D3AD-6DCC-8CD71438BD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7A404-BCBF-DDDE-6BAD-4B0A88D97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78160-0678-7F6D-69F3-465D1A097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12E29-E621-E4F0-ADC0-311485729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04797-427C-6DDE-43F2-EFA12DCB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3343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585C-6C1F-D362-E058-10EAAED6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8D5F2-3579-2393-5DA7-CB98A9E9B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B1A99-94A5-FFD8-381A-0E6F60D00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96AB1-EBF3-426B-C375-EAE6926F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3662-7289-F914-5EA2-3E3236A39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482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75FDDD-4F32-B0FB-6C85-5BF254581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1154C-A42C-6AD8-36AB-3C0304B0C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89E44-DAEF-803D-05E3-73C4B154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F1644-A88A-AC49-0ABF-5A56760BA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DDA2-71B2-FDEA-579B-51796B9E2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9912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373B5-EC76-A1B7-F543-290F4A53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F6E1B-FF3F-86D7-5F27-3CA5A31E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BA52A-1C5A-00D7-8417-F4C653F92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021743-60D2-41DB-B43F-0BFA2ED72EDF}" type="datetimeFigureOut">
              <a:rPr lang="en-DE" smtClean="0"/>
              <a:t>13/11/2025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A87B6-D641-F395-DFC0-75A239CD8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5CAB7-4215-0AA6-F2B6-7EBEDA32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85A052-EFFF-4315-884F-F7B56A20271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279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E1EB8-2166-8FFA-EFD5-269E78B01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Water Pump Project</a:t>
            </a:r>
            <a:br>
              <a:rPr lang="en-US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55C54-DA2A-6476-E564-A9D6445DCF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By Mary and Geetha</a:t>
            </a:r>
            <a:endParaRPr lang="en-DE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46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4C36B-3168-DE25-507A-A09F752C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34" y="969999"/>
            <a:ext cx="10515600" cy="8690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Features Used</a:t>
            </a:r>
            <a:endParaRPr lang="en-DE" sz="4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60A09-C100-0E8F-B0D3-4C530441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075"/>
            <a:ext cx="10515600" cy="4561726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Feature Engineering: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water_quality_quantity</a:t>
            </a:r>
            <a:r>
              <a:rPr lang="en-US" dirty="0"/>
              <a:t> — Combined water quality + quantity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/>
              <a:t>pump_age</a:t>
            </a:r>
            <a:r>
              <a:rPr lang="en-US" dirty="0"/>
              <a:t> — Derived from construction year &amp; date recorded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Cleaning &amp; Transformations</a:t>
            </a: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42900" lvl="0" indent="-3429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b="1" dirty="0"/>
              <a:t>Latitude / Longitude</a:t>
            </a:r>
          </a:p>
          <a:p>
            <a:pPr lvl="0" fontAlgn="base">
              <a:spcAft>
                <a:spcPct val="0"/>
              </a:spcAft>
            </a:pPr>
            <a:r>
              <a:rPr lang="en-US" altLang="en-DE" b="1" dirty="0"/>
              <a:t>	</a:t>
            </a:r>
            <a:r>
              <a:rPr lang="en-DE" altLang="en-DE" dirty="0"/>
              <a:t>Removed impossible coordinates (outside Tanzania bounds)</a:t>
            </a:r>
          </a:p>
          <a:p>
            <a:pPr lvl="0" fontAlgn="base">
              <a:spcAft>
                <a:spcPct val="0"/>
              </a:spcAft>
            </a:pPr>
            <a:r>
              <a:rPr lang="en-US" altLang="en-DE" b="1" dirty="0"/>
              <a:t>	</a:t>
            </a:r>
            <a:r>
              <a:rPr lang="en-DE" altLang="en-DE" dirty="0"/>
              <a:t>Added sin/cos transforms for smooth spatial patterns</a:t>
            </a:r>
          </a:p>
          <a:p>
            <a:pPr marL="342900" lvl="0" indent="-3429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b="1" dirty="0" err="1"/>
              <a:t>amount_tsh</a:t>
            </a:r>
            <a:endParaRPr lang="en-DE" altLang="en-DE" b="1" dirty="0"/>
          </a:p>
          <a:p>
            <a:pPr lvl="0" fontAlgn="base">
              <a:spcAft>
                <a:spcPct val="0"/>
              </a:spcAft>
            </a:pPr>
            <a:r>
              <a:rPr lang="en-US" altLang="en-DE" b="1" dirty="0"/>
              <a:t>	</a:t>
            </a:r>
            <a:r>
              <a:rPr lang="en-DE" altLang="en-DE" dirty="0"/>
              <a:t>Kept zeros (valid “no pressure” readings)</a:t>
            </a:r>
          </a:p>
          <a:p>
            <a:pPr marL="342900" lvl="0" indent="-3429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b="1" dirty="0"/>
              <a:t>Population</a:t>
            </a:r>
          </a:p>
          <a:p>
            <a:pPr lvl="0" fontAlgn="base">
              <a:spcAft>
                <a:spcPct val="0"/>
              </a:spcAft>
            </a:pPr>
            <a:r>
              <a:rPr lang="en-US" altLang="en-DE" b="1" dirty="0"/>
              <a:t>	</a:t>
            </a:r>
            <a:r>
              <a:rPr lang="en-DE" altLang="en-DE" dirty="0"/>
              <a:t>Capped extreme outliers (99th percentile)</a:t>
            </a:r>
          </a:p>
          <a:p>
            <a:pPr marL="342900" lvl="0" indent="-34290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DE" altLang="en-DE" b="1" dirty="0" err="1"/>
              <a:t>gps_height</a:t>
            </a:r>
            <a:endParaRPr lang="en-DE" altLang="en-DE" b="1" dirty="0"/>
          </a:p>
          <a:p>
            <a:pPr lvl="0" fontAlgn="base">
              <a:spcAft>
                <a:spcPct val="0"/>
              </a:spcAft>
            </a:pPr>
            <a:r>
              <a:rPr lang="en-US" altLang="en-DE" dirty="0"/>
              <a:t>	</a:t>
            </a:r>
            <a:r>
              <a:rPr lang="en-DE" altLang="en-DE" dirty="0"/>
              <a:t>Invalid zeros replaced with region median</a:t>
            </a:r>
          </a:p>
          <a:p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240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75E4-D62C-C1AE-D7E7-512F60553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1"/>
            <a:ext cx="10515600" cy="177964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Handle high-cardinality variables</a:t>
            </a:r>
            <a:br>
              <a:rPr lang="en-US" dirty="0"/>
            </a:b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FE3A-13A5-0A48-C019-B4C56F07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746608"/>
            <a:ext cx="10515600" cy="4250576"/>
          </a:xfrm>
        </p:spPr>
        <p:txBody>
          <a:bodyPr>
            <a:normAutofit/>
          </a:bodyPr>
          <a:lstStyle/>
          <a:p>
            <a:r>
              <a:rPr lang="en-US" b="1" dirty="0"/>
              <a:t>Installer Column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Cleaned &amp; normalized with dictionary (aliases, acronyms)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Removed placeholders: "0", "nan", "none", "unknown",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Unified common installers ("DANID" → "DANIDA")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Kept </a:t>
            </a:r>
            <a:r>
              <a:rPr lang="en-US" sz="2000" b="1" dirty="0"/>
              <a:t>Top 14</a:t>
            </a:r>
            <a:r>
              <a:rPr lang="en-US" sz="2000" dirty="0"/>
              <a:t> installers (cover majority of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Remaining values grouped as </a:t>
            </a:r>
            <a:r>
              <a:rPr lang="en-US" sz="2000" b="1" dirty="0"/>
              <a:t>"Other"</a:t>
            </a:r>
            <a:endParaRPr lang="en-US" sz="2000" dirty="0"/>
          </a:p>
          <a:p>
            <a:endParaRPr lang="en-US" dirty="0"/>
          </a:p>
          <a:p>
            <a:r>
              <a:rPr lang="en-US" b="1" dirty="0"/>
              <a:t>Columns Dropped (20+)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High-cardinality or redundant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Examples: </a:t>
            </a:r>
            <a:r>
              <a:rPr lang="en-US" sz="2000" dirty="0" err="1"/>
              <a:t>wpt_name</a:t>
            </a:r>
            <a:r>
              <a:rPr lang="en-US" sz="2000" dirty="0"/>
              <a:t>, </a:t>
            </a:r>
            <a:r>
              <a:rPr lang="en-US" sz="2000" dirty="0" err="1"/>
              <a:t>subvillage</a:t>
            </a:r>
            <a:r>
              <a:rPr lang="en-US" sz="2000" dirty="0"/>
              <a:t>, </a:t>
            </a:r>
            <a:r>
              <a:rPr lang="en-US" sz="2000" dirty="0" err="1"/>
              <a:t>scheme_name</a:t>
            </a:r>
            <a:r>
              <a:rPr lang="en-US" sz="2000" dirty="0"/>
              <a:t>, funder, </a:t>
            </a:r>
            <a:r>
              <a:rPr lang="en-US" sz="2000" dirty="0" err="1"/>
              <a:t>region_code</a:t>
            </a:r>
            <a:r>
              <a:rPr lang="en-US" sz="2000" dirty="0"/>
              <a:t>, </a:t>
            </a:r>
            <a:r>
              <a:rPr lang="en-US" sz="2000" dirty="0" err="1"/>
              <a:t>district_code</a:t>
            </a:r>
            <a:r>
              <a:rPr lang="en-US" sz="2000" dirty="0"/>
              <a:t>, etc.</a:t>
            </a:r>
          </a:p>
          <a:p>
            <a:endParaRPr lang="en-US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2703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A2A2A9-4A64-4D8B-9608-47B007DA1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171102"/>
              </p:ext>
            </p:extLst>
          </p:nvPr>
        </p:nvGraphicFramePr>
        <p:xfrm>
          <a:off x="212889" y="3204076"/>
          <a:ext cx="10842395" cy="1429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2195">
                  <a:extLst>
                    <a:ext uri="{9D8B030D-6E8A-4147-A177-3AD203B41FA5}">
                      <a16:colId xmlns:a16="http://schemas.microsoft.com/office/drawing/2014/main" val="1984906061"/>
                    </a:ext>
                  </a:extLst>
                </a:gridCol>
                <a:gridCol w="2170050">
                  <a:extLst>
                    <a:ext uri="{9D8B030D-6E8A-4147-A177-3AD203B41FA5}">
                      <a16:colId xmlns:a16="http://schemas.microsoft.com/office/drawing/2014/main" val="2444217032"/>
                    </a:ext>
                  </a:extLst>
                </a:gridCol>
                <a:gridCol w="2170050">
                  <a:extLst>
                    <a:ext uri="{9D8B030D-6E8A-4147-A177-3AD203B41FA5}">
                      <a16:colId xmlns:a16="http://schemas.microsoft.com/office/drawing/2014/main" val="1701822309"/>
                    </a:ext>
                  </a:extLst>
                </a:gridCol>
                <a:gridCol w="2170050">
                  <a:extLst>
                    <a:ext uri="{9D8B030D-6E8A-4147-A177-3AD203B41FA5}">
                      <a16:colId xmlns:a16="http://schemas.microsoft.com/office/drawing/2014/main" val="499903311"/>
                    </a:ext>
                  </a:extLst>
                </a:gridCol>
                <a:gridCol w="2170050">
                  <a:extLst>
                    <a:ext uri="{9D8B030D-6E8A-4147-A177-3AD203B41FA5}">
                      <a16:colId xmlns:a16="http://schemas.microsoft.com/office/drawing/2014/main" val="2846844728"/>
                    </a:ext>
                  </a:extLst>
                </a:gridCol>
              </a:tblGrid>
              <a:tr h="476548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Model</a:t>
                      </a:r>
                      <a:r>
                        <a:rPr lang="en-US" sz="2400" dirty="0"/>
                        <a:t> </a:t>
                      </a:r>
                      <a:endParaRPr lang="en-DE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C000"/>
                          </a:solidFill>
                        </a:rPr>
                        <a:t>Accuracy</a:t>
                      </a:r>
                      <a:endParaRPr lang="en-DE" sz="2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FFC000"/>
                          </a:solidFill>
                        </a:rPr>
                        <a:t>Precision_macro</a:t>
                      </a:r>
                      <a:endParaRPr lang="en-DE" sz="2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FFC000"/>
                          </a:solidFill>
                        </a:rPr>
                        <a:t>Recall_macro</a:t>
                      </a:r>
                      <a:endParaRPr lang="en-DE" sz="2000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C000"/>
                          </a:solidFill>
                        </a:rPr>
                        <a:t>F1_macro</a:t>
                      </a:r>
                      <a:endParaRPr lang="en-DE" b="1" dirty="0">
                        <a:solidFill>
                          <a:srgbClr val="FFC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9761796"/>
                  </a:ext>
                </a:extLst>
              </a:tr>
              <a:tr h="476548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0.7963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0.6921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 0.6958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b="1" dirty="0">
                          <a:solidFill>
                            <a:srgbClr val="FF0000"/>
                          </a:solidFill>
                        </a:rPr>
                        <a:t>0.6935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145377"/>
                  </a:ext>
                </a:extLst>
              </a:tr>
              <a:tr h="476548">
                <a:tc>
                  <a:txBody>
                    <a:bodyPr/>
                    <a:lstStyle/>
                    <a:p>
                      <a:r>
                        <a:rPr lang="en-US" dirty="0"/>
                        <a:t>Decision Tree</a:t>
                      </a:r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0.7479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0.6343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dirty="0"/>
                        <a:t> 0.6491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DE" b="1" dirty="0">
                          <a:solidFill>
                            <a:srgbClr val="C00000"/>
                          </a:solidFill>
                        </a:rPr>
                        <a:t>0.6407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0901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F73DB9F-CB53-493D-8095-A0F61A43F604}"/>
              </a:ext>
            </a:extLst>
          </p:cNvPr>
          <p:cNvSpPr txBox="1"/>
          <p:nvPr/>
        </p:nvSpPr>
        <p:spPr>
          <a:xfrm>
            <a:off x="1819372" y="329937"/>
            <a:ext cx="5854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                    </a:t>
            </a:r>
            <a:r>
              <a:rPr lang="en-US" sz="3600" b="1" dirty="0">
                <a:solidFill>
                  <a:schemeClr val="accent3">
                    <a:lumMod val="50000"/>
                  </a:schemeClr>
                </a:solidFill>
              </a:rPr>
              <a:t>Baseline models</a:t>
            </a:r>
            <a:endParaRPr lang="en-DE" sz="36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510ABB-5C58-48FD-BBAF-BC95748FDDF7}"/>
              </a:ext>
            </a:extLst>
          </p:cNvPr>
          <p:cNvSpPr txBox="1"/>
          <p:nvPr/>
        </p:nvSpPr>
        <p:spPr>
          <a:xfrm flipH="1">
            <a:off x="810705" y="843677"/>
            <a:ext cx="65422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DecisionTree</a:t>
            </a:r>
            <a:endParaRPr lang="en-US" sz="2400" b="1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/>
              <a:t>RandomForest</a:t>
            </a:r>
            <a:endParaRPr lang="en-US" sz="2400" b="1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60137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411738-F302-4324-A341-B02107803D11}"/>
              </a:ext>
            </a:extLst>
          </p:cNvPr>
          <p:cNvSpPr txBox="1"/>
          <p:nvPr/>
        </p:nvSpPr>
        <p:spPr>
          <a:xfrm>
            <a:off x="4213782" y="324913"/>
            <a:ext cx="4741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Confusion matrix</a:t>
            </a:r>
            <a:endParaRPr lang="en-DE" sz="3200" b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2F92CA-149A-4E58-9886-BC2A3DC4E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0" y="1467929"/>
            <a:ext cx="5017859" cy="4914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9C704F-79FD-4FB7-A95C-7BA5B971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67930"/>
            <a:ext cx="5621518" cy="491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92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F36663-CEF2-49C2-9455-99A513094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844611"/>
              </p:ext>
            </p:extLst>
          </p:nvPr>
        </p:nvGraphicFramePr>
        <p:xfrm>
          <a:off x="385713" y="1143000"/>
          <a:ext cx="10515600" cy="22860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96077580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00639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66164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Model Strength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</a:rPr>
                        <a:t>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498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functional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pumps falsely flagged as broken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5434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functional needs repair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Weakest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Often confused with the other classes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945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non functional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Some broken pumps predicted as functional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097050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90C6189-1768-42D1-9C0E-7083E986534E}"/>
              </a:ext>
            </a:extLst>
          </p:cNvPr>
          <p:cNvSpPr txBox="1"/>
          <p:nvPr/>
        </p:nvSpPr>
        <p:spPr>
          <a:xfrm>
            <a:off x="2130457" y="414779"/>
            <a:ext cx="5213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Models performance</a:t>
            </a:r>
            <a:endParaRPr lang="en-DE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72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20BF80-C74A-4D5B-8150-7AF8D998039E}"/>
              </a:ext>
            </a:extLst>
          </p:cNvPr>
          <p:cNvSpPr txBox="1"/>
          <p:nvPr/>
        </p:nvSpPr>
        <p:spPr>
          <a:xfrm>
            <a:off x="2620652" y="320511"/>
            <a:ext cx="5307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models</a:t>
            </a:r>
            <a:endParaRPr lang="en-DE" sz="3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8EE8A-3FB5-427F-A058-A86A4E8EA49F}"/>
              </a:ext>
            </a:extLst>
          </p:cNvPr>
          <p:cNvSpPr txBox="1"/>
          <p:nvPr/>
        </p:nvSpPr>
        <p:spPr>
          <a:xfrm>
            <a:off x="608553" y="1777024"/>
            <a:ext cx="9200917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Smote: Accuracy</a:t>
            </a:r>
            <a:r>
              <a:rPr lang="en-US" dirty="0"/>
              <a:t>: </a:t>
            </a:r>
            <a:r>
              <a:rPr lang="en-US" sz="2000" b="1" dirty="0">
                <a:solidFill>
                  <a:srgbClr val="C00000"/>
                </a:solidFill>
              </a:rPr>
              <a:t>0.7880</a:t>
            </a:r>
            <a:r>
              <a:rPr lang="en-US" sz="2400" dirty="0"/>
              <a:t>,     </a:t>
            </a:r>
            <a:r>
              <a:rPr lang="en-US" sz="2400" b="1" dirty="0"/>
              <a:t>F1_macro</a:t>
            </a:r>
            <a:r>
              <a:rPr lang="en-US" dirty="0"/>
              <a:t>: </a:t>
            </a:r>
            <a:r>
              <a:rPr lang="en-US" b="1" dirty="0">
                <a:solidFill>
                  <a:srgbClr val="FF0000"/>
                </a:solidFill>
              </a:rPr>
              <a:t>0.6853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/>
              <a:t>Cross validation:  </a:t>
            </a:r>
            <a:r>
              <a:rPr lang="en-US" sz="2400" b="1" dirty="0">
                <a:solidFill>
                  <a:srgbClr val="002060"/>
                </a:solidFill>
              </a:rPr>
              <a:t>F1_macro scores</a:t>
            </a:r>
            <a:r>
              <a:rPr lang="en-US" sz="2400" b="1" dirty="0"/>
              <a:t>: [</a:t>
            </a:r>
            <a:r>
              <a:rPr lang="en-US" sz="2000" b="1" dirty="0">
                <a:solidFill>
                  <a:srgbClr val="C00000"/>
                </a:solidFill>
              </a:rPr>
              <a:t>0.6866</a:t>
            </a:r>
            <a:r>
              <a:rPr lang="en-US" sz="2000" b="1" dirty="0"/>
              <a:t>,  </a:t>
            </a:r>
            <a:r>
              <a:rPr lang="en-US" sz="2000" b="1" dirty="0">
                <a:solidFill>
                  <a:srgbClr val="C00000"/>
                </a:solidFill>
              </a:rPr>
              <a:t>0.6755</a:t>
            </a:r>
            <a:r>
              <a:rPr lang="en-US" sz="2000" b="1" dirty="0"/>
              <a:t>,  </a:t>
            </a:r>
            <a:r>
              <a:rPr lang="en-US" sz="2000" b="1" dirty="0">
                <a:solidFill>
                  <a:srgbClr val="C00000"/>
                </a:solidFill>
              </a:rPr>
              <a:t>0.6947</a:t>
            </a:r>
            <a:r>
              <a:rPr lang="en-US" sz="2000" b="1" dirty="0"/>
              <a:t>, </a:t>
            </a:r>
            <a:r>
              <a:rPr lang="en-US" sz="2000" b="1" dirty="0">
                <a:solidFill>
                  <a:srgbClr val="C00000"/>
                </a:solidFill>
              </a:rPr>
              <a:t> 0.6735</a:t>
            </a:r>
            <a:r>
              <a:rPr lang="en-US" sz="2000" b="1" dirty="0"/>
              <a:t>,  </a:t>
            </a:r>
            <a:r>
              <a:rPr lang="en-US" sz="2000" b="1" dirty="0">
                <a:solidFill>
                  <a:srgbClr val="C00000"/>
                </a:solidFill>
              </a:rPr>
              <a:t>0.6818</a:t>
            </a:r>
            <a:r>
              <a:rPr lang="en-US" sz="2000" b="1" dirty="0"/>
              <a:t>]</a:t>
            </a:r>
          </a:p>
          <a:p>
            <a:r>
              <a:rPr lang="en-US" sz="2000" b="1" dirty="0"/>
              <a:t>                                      </a:t>
            </a:r>
            <a:r>
              <a:rPr lang="en-US" sz="2000" b="1" dirty="0">
                <a:solidFill>
                  <a:srgbClr val="002060"/>
                </a:solidFill>
              </a:rPr>
              <a:t> Mean</a:t>
            </a:r>
            <a:r>
              <a:rPr lang="en-US" sz="2000" b="1" dirty="0"/>
              <a:t>:  </a:t>
            </a:r>
            <a:r>
              <a:rPr lang="en-US" sz="2000" b="1" dirty="0">
                <a:solidFill>
                  <a:srgbClr val="C00000"/>
                </a:solidFill>
              </a:rPr>
              <a:t>0.6824</a:t>
            </a:r>
            <a:endParaRPr lang="en-DE" sz="2000" b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E8BDBC-5773-4AFD-9819-C458492F2D3B}"/>
              </a:ext>
            </a:extLst>
          </p:cNvPr>
          <p:cNvSpPr txBox="1"/>
          <p:nvPr/>
        </p:nvSpPr>
        <p:spPr>
          <a:xfrm>
            <a:off x="443060" y="4628561"/>
            <a:ext cx="344863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Feature engineering 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Hyperparameter tuning</a:t>
            </a:r>
            <a:endParaRPr lang="en-DE" sz="2000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5381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7D7-35FD-DDA8-F337-F9DBB8F5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9567-B4FF-D7BB-15F6-E3B1671E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53144"/>
            <a:ext cx="10515600" cy="1045027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Models Compared</a:t>
            </a:r>
            <a:endParaRPr lang="en-DE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93709-0E93-1A11-059F-2691CEDAD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1267"/>
            <a:ext cx="10515600" cy="4168383"/>
          </a:xfrm>
        </p:spPr>
        <p:txBody>
          <a:bodyPr/>
          <a:lstStyle/>
          <a:p>
            <a:r>
              <a:rPr lang="en-US" b="1" dirty="0"/>
              <a:t>Baseline Models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Logistic Regression (with </a:t>
            </a:r>
            <a:r>
              <a:rPr lang="en-US" dirty="0" err="1"/>
              <a:t>StandardScaler</a:t>
            </a:r>
            <a:r>
              <a:rPr lang="en-US" dirty="0"/>
              <a:t> + OHE)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Random Forest Classifier</a:t>
            </a:r>
          </a:p>
          <a:p>
            <a:r>
              <a:rPr lang="en-US" b="1" dirty="0"/>
              <a:t>Improved Model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Random Forest Classifier with Hyperparameter Tuning</a:t>
            </a:r>
          </a:p>
          <a:p>
            <a:pPr lvl="1"/>
            <a:r>
              <a:rPr lang="en-US" dirty="0"/>
              <a:t>Tuned with </a:t>
            </a:r>
            <a:r>
              <a:rPr lang="en-US" dirty="0" err="1"/>
              <a:t>RandomizedSearchCV</a:t>
            </a:r>
            <a:endParaRPr lang="en-US" dirty="0"/>
          </a:p>
          <a:p>
            <a:pPr lvl="1"/>
            <a:r>
              <a:rPr lang="en-US" dirty="0"/>
              <a:t>Scored using </a:t>
            </a:r>
            <a:r>
              <a:rPr lang="en-US" b="1" dirty="0"/>
              <a:t>macro F1</a:t>
            </a:r>
            <a:endParaRPr lang="en-US" dirty="0"/>
          </a:p>
          <a:p>
            <a:pPr lvl="1"/>
            <a:r>
              <a:rPr lang="en-US" dirty="0"/>
              <a:t>Balanced class weights</a:t>
            </a:r>
          </a:p>
          <a:p>
            <a:pPr lvl="1"/>
            <a:r>
              <a:rPr lang="en-US" dirty="0"/>
              <a:t>Optimized depth, features, and tree count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5622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2995FF-2B5B-6B62-438B-F526CAE62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192467"/>
              </p:ext>
            </p:extLst>
          </p:nvPr>
        </p:nvGraphicFramePr>
        <p:xfrm>
          <a:off x="1582220" y="1746607"/>
          <a:ext cx="8835775" cy="2361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5022">
                  <a:extLst>
                    <a:ext uri="{9D8B030D-6E8A-4147-A177-3AD203B41FA5}">
                      <a16:colId xmlns:a16="http://schemas.microsoft.com/office/drawing/2014/main" val="727696240"/>
                    </a:ext>
                  </a:extLst>
                </a:gridCol>
                <a:gridCol w="1983029">
                  <a:extLst>
                    <a:ext uri="{9D8B030D-6E8A-4147-A177-3AD203B41FA5}">
                      <a16:colId xmlns:a16="http://schemas.microsoft.com/office/drawing/2014/main" val="2336967373"/>
                    </a:ext>
                  </a:extLst>
                </a:gridCol>
                <a:gridCol w="1907724">
                  <a:extLst>
                    <a:ext uri="{9D8B030D-6E8A-4147-A177-3AD203B41FA5}">
                      <a16:colId xmlns:a16="http://schemas.microsoft.com/office/drawing/2014/main" val="1228749300"/>
                    </a:ext>
                  </a:extLst>
                </a:gridCol>
              </a:tblGrid>
              <a:tr h="7063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Model</a:t>
                      </a:r>
                      <a:endParaRPr lang="en-US" sz="2000" b="1" i="0" u="none" strike="noStrike" dirty="0">
                        <a:solidFill>
                          <a:srgbClr val="153D6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Accuracy</a:t>
                      </a:r>
                      <a:endParaRPr lang="en-US" sz="2000" b="1" i="0" u="none" strike="noStrike">
                        <a:solidFill>
                          <a:srgbClr val="153D6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F1 Macro</a:t>
                      </a:r>
                      <a:endParaRPr lang="en-US" sz="2000" b="1" i="0" u="none" strike="noStrike">
                        <a:solidFill>
                          <a:srgbClr val="153D64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72762707"/>
                  </a:ext>
                </a:extLst>
              </a:tr>
              <a:tr h="573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Logistic Regression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 dirty="0">
                          <a:effectLst/>
                        </a:rPr>
                        <a:t>0.6575</a:t>
                      </a:r>
                      <a:endParaRPr lang="en-DE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>
                          <a:effectLst/>
                        </a:rPr>
                        <a:t>0.5642</a:t>
                      </a:r>
                      <a:endParaRPr lang="en-DE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52683665"/>
                  </a:ext>
                </a:extLst>
              </a:tr>
              <a:tr h="4083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Random Forest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0.8048</a:t>
                      </a:r>
                      <a:endParaRPr lang="en-DE" sz="2000" b="1" i="0" u="none" strike="noStrik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0.6886</a:t>
                      </a:r>
                      <a:endParaRPr lang="en-DE" sz="2000" b="1" i="0" u="none" strike="noStrike" dirty="0"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49361451"/>
                  </a:ext>
                </a:extLst>
              </a:tr>
              <a:tr h="6732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Random Forest (Random Search)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>
                          <a:effectLst/>
                        </a:rPr>
                        <a:t>0.7928</a:t>
                      </a:r>
                      <a:endParaRPr lang="en-DE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DE" sz="2000" u="none" strike="noStrike" dirty="0">
                          <a:effectLst/>
                        </a:rPr>
                        <a:t>0.6955 </a:t>
                      </a:r>
                      <a:endParaRPr lang="en-DE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02562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1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4F91-EE51-D206-4CF8-4FF909BD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76249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Logistic regression</a:t>
            </a:r>
            <a:endParaRPr lang="en-DE" sz="4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5381F5-16C4-C1A7-3406-06E98BF03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140" y="2052637"/>
            <a:ext cx="5038725" cy="4124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95EF82-1C6C-F298-E996-2712D856E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" y="2128836"/>
            <a:ext cx="5666921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6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7B8A0-0E6D-BA1A-CAE9-4014E51E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Random Forest Classifier without Tuning</a:t>
            </a:r>
            <a:endParaRPr lang="en-DE" sz="4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420E6-0702-113E-6584-A9D975B61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7143"/>
            <a:ext cx="5377543" cy="43157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5BEA08-EC86-8177-153C-AE4D1B8E5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694" y="2177143"/>
            <a:ext cx="5038725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91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BF9A5-1841-9F62-9BAC-0E934F22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Random Forest Classifier with Tuning</a:t>
            </a:r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F407C3-6E30-BEF6-8760-3066034AE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629" y="1921717"/>
            <a:ext cx="5038725" cy="4571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D434C4-126C-075C-063F-5B250F2C6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6" y="2130358"/>
            <a:ext cx="6061983" cy="413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39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368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Narrow</vt:lpstr>
      <vt:lpstr>Arial</vt:lpstr>
      <vt:lpstr>Wingdings</vt:lpstr>
      <vt:lpstr>Office Theme</vt:lpstr>
      <vt:lpstr>Water Pump Project </vt:lpstr>
      <vt:lpstr>Features Used</vt:lpstr>
      <vt:lpstr>Handle high-cardinality variables </vt:lpstr>
      <vt:lpstr>PowerPoint Presentation</vt:lpstr>
      <vt:lpstr>PowerPoint Presentation</vt:lpstr>
      <vt:lpstr>PowerPoint Presentation</vt:lpstr>
      <vt:lpstr>PowerPoint Presentation</vt:lpstr>
      <vt:lpstr>Models Compared</vt:lpstr>
      <vt:lpstr>PowerPoint Presentation</vt:lpstr>
      <vt:lpstr>Logistic regression</vt:lpstr>
      <vt:lpstr>Random Forest Classifier without Tuning</vt:lpstr>
      <vt:lpstr>Random Forest Classifier with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 Pump Project </dc:title>
  <dc:creator>saravanaprabhu ponraj</dc:creator>
  <cp:lastModifiedBy>Mary</cp:lastModifiedBy>
  <cp:revision>28</cp:revision>
  <dcterms:created xsi:type="dcterms:W3CDTF">2025-11-13T13:20:24Z</dcterms:created>
  <dcterms:modified xsi:type="dcterms:W3CDTF">2025-11-13T17:51:25Z</dcterms:modified>
</cp:coreProperties>
</file>